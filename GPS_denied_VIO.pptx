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04E4E-CAAD-1088-BDD9-0DB3CD826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4DD3D8-40F1-90DA-CD7F-2778CEAEB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3C7DF6-5876-C612-E51B-E5326190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80D83-04E2-4797-B9F1-A80FFDF5A58A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0401DE-3C5C-10D6-C750-8392360CB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AA27C2-25E7-BDC2-7F15-CBC8808F5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9EA7-C9A7-4639-B705-55094DC3652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3630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4822FC-E23A-5A66-F0E1-8C2F0D3C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80A972-4EE8-7692-E271-AB040315F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FFE9E1-C1AF-E170-C00D-83E60BCD0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80D83-04E2-4797-B9F1-A80FFDF5A58A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142649-F48E-C0AB-81F5-94530F45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CECF15-E01D-16CE-F403-8F76AE7AF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9EA7-C9A7-4639-B705-55094DC3652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807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67B84-FF89-B6AC-191B-BE58AC551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E5A1C3-8D9D-A002-C991-77C8761F1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7DFE05-922F-187B-0EED-F52940FD4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80D83-04E2-4797-B9F1-A80FFDF5A58A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EDD056-5962-3640-A957-FF99F78C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A03A60-18C3-1C1E-5038-AAEB6A25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9EA7-C9A7-4639-B705-55094DC3652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8992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67B70-9E53-10B1-93B2-24487C9DF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2443E1-6F8C-CC93-CB19-30A5D443B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BE9EF0-A78B-2CD7-85F2-32E71A12D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A6851F-FD99-EC16-FABE-7956ECFFB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80D83-04E2-4797-B9F1-A80FFDF5A58A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A7D0E0-4CF2-71BC-2899-13D9CBC2E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2A289B-EB11-502E-B8E8-49B954E9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9EA7-C9A7-4639-B705-55094DC3652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884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85A8F-99A6-66C0-911B-57B79E033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440F74-8A8A-5F82-A881-7FAA74816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052047-B10B-9A41-73DE-E15994005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3B339DC-827D-E4BD-00E0-15F48AEC6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431AB80-FC15-C2C6-62B0-FD00C81E0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07BDB9C-2C5E-A2CA-2712-F3746CF13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80D83-04E2-4797-B9F1-A80FFDF5A58A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816715-1180-F0B4-5927-C2374D8CA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96D68BA-4E73-B5A5-6E11-69C459691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9EA7-C9A7-4639-B705-55094DC3652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9056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19A5AC-0884-C5B0-1B84-BA08B033F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C0EF2BB-8B0F-03E8-E3DF-1231BB237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80D83-04E2-4797-B9F1-A80FFDF5A58A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EF8C3E3-3216-0767-716A-CC15E20BE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499319-8D27-8E06-E3CB-069DE563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9EA7-C9A7-4639-B705-55094DC3652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980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9A8D497-597B-6E6E-D68B-A66579B1F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80D83-04E2-4797-B9F1-A80FFDF5A58A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5DCC784-D8A1-2B6F-7D74-BC42F1ECA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BECD02-EA61-18F1-9D01-4130923D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9EA7-C9A7-4639-B705-55094DC3652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9703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594B86-4C3A-A88C-8287-D52A8E91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694739-4A65-667A-88E7-A794473DC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9A94376-3656-F297-BC7E-ED985418C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17B2BB-0479-0B1B-135D-26CA192C4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80D83-04E2-4797-B9F1-A80FFDF5A58A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F8608C-9BBB-665D-231A-C5727B591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8E075B-4137-9536-0C58-A5869D41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9EA7-C9A7-4639-B705-55094DC3652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697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447E5-8451-7DDB-858D-60A77FEBB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34C92B-60C3-9B55-4A18-DC1D70B53B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75594F-37ED-BFEE-442E-48F927E7C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035956-055C-B6DF-F6BB-B112C8F9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80D83-04E2-4797-B9F1-A80FFDF5A58A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76490C-0791-4D92-5880-D4DC9F7F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3E0B55-70A7-0A7D-AD62-D16AEB778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9EA7-C9A7-4639-B705-55094DC3652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3434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8DD11-EEB8-7CEC-96C0-C2FBC1AD1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FE430B-45B2-1B49-0282-CDBDC0D42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F27F9C-B5A9-3BB6-E61D-64A64F654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80D83-04E2-4797-B9F1-A80FFDF5A58A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6F34D5-2D10-21A7-B34B-27BE1B4E7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F19081-8E55-0949-A0E2-8E7235FA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9EA7-C9A7-4639-B705-55094DC3652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9844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C4B292-9C7C-7715-FE4B-BEF2FECC13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6B4007-BD24-AF76-82C4-5D07180D6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DBA1AD-86AA-0FFC-FEBE-68A1F0C3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80D83-04E2-4797-B9F1-A80FFDF5A58A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1DD5D1-3ACC-1E23-D832-CC60A60C7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051F6A-7033-5032-857C-FF7F2A103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B9EA7-C9A7-4639-B705-55094DC3652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4577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643085D-AAB5-3455-6B58-E09E06692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B7137D-05BD-E983-413B-41923C348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00C677-C8AF-2EA6-C677-3BD5ABF441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80D83-04E2-4797-B9F1-A80FFDF5A58A}" type="datetimeFigureOut">
              <a:rPr lang="es-MX" smtClean="0"/>
              <a:t>12/05/2026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BFA954-1FA1-C3B7-9E5A-E1274B13D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1C15DC-84A6-07AF-64B0-B4AFA4CB5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B9EA7-C9A7-4639-B705-55094DC3652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756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28A8146-1543-4FD7-DE60-C3F0F946C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67" y="4479821"/>
            <a:ext cx="4747671" cy="1887795"/>
          </a:xfrm>
          <a:prstGeom prst="rect">
            <a:avLst/>
          </a:prstGeom>
        </p:spPr>
      </p:pic>
      <p:pic>
        <p:nvPicPr>
          <p:cNvPr id="1026" name="Picture 2" descr="Details are in the caption following the image">
            <a:extLst>
              <a:ext uri="{FF2B5EF4-FFF2-40B4-BE49-F238E27FC236}">
                <a16:creationId xmlns:a16="http://schemas.microsoft.com/office/drawing/2014/main" id="{83FE52CF-00F9-F1DD-F451-42127E849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67" y="2476500"/>
            <a:ext cx="4762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2329B42-A733-6A9F-89DD-53E5E8DBB7F6}"/>
              </a:ext>
            </a:extLst>
          </p:cNvPr>
          <p:cNvSpPr txBox="1"/>
          <p:nvPr/>
        </p:nvSpPr>
        <p:spPr>
          <a:xfrm>
            <a:off x="806244" y="670740"/>
            <a:ext cx="97241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/>
              <a:t>Visual–Inertial Odometry when GPS is unavailable</a:t>
            </a:r>
            <a:endParaRPr lang="es-MX" sz="30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A387AE7-D469-46F4-3997-505C74F5AE35}"/>
              </a:ext>
            </a:extLst>
          </p:cNvPr>
          <p:cNvSpPr txBox="1"/>
          <p:nvPr/>
        </p:nvSpPr>
        <p:spPr>
          <a:xfrm>
            <a:off x="669167" y="14812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Camera + IMU → position, velocity, attitude, trajectory</a:t>
            </a:r>
            <a:endParaRPr lang="es-MX" dirty="0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5B8561B-D85F-193D-E0B8-0ABECDB6E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926245"/>
              </p:ext>
            </p:extLst>
          </p:nvPr>
        </p:nvGraphicFramePr>
        <p:xfrm>
          <a:off x="6341806" y="1409700"/>
          <a:ext cx="5395449" cy="5120640"/>
        </p:xfrm>
        <a:graphic>
          <a:graphicData uri="http://schemas.openxmlformats.org/drawingml/2006/table">
            <a:tbl>
              <a:tblPr/>
              <a:tblGrid>
                <a:gridCol w="1798483">
                  <a:extLst>
                    <a:ext uri="{9D8B030D-6E8A-4147-A177-3AD203B41FA5}">
                      <a16:colId xmlns:a16="http://schemas.microsoft.com/office/drawing/2014/main" val="757522275"/>
                    </a:ext>
                  </a:extLst>
                </a:gridCol>
                <a:gridCol w="1798483">
                  <a:extLst>
                    <a:ext uri="{9D8B030D-6E8A-4147-A177-3AD203B41FA5}">
                      <a16:colId xmlns:a16="http://schemas.microsoft.com/office/drawing/2014/main" val="1266854404"/>
                    </a:ext>
                  </a:extLst>
                </a:gridCol>
                <a:gridCol w="1798483">
                  <a:extLst>
                    <a:ext uri="{9D8B030D-6E8A-4147-A177-3AD203B41FA5}">
                      <a16:colId xmlns:a16="http://schemas.microsoft.com/office/drawing/2014/main" val="573348569"/>
                    </a:ext>
                  </a:extLst>
                </a:gridCol>
              </a:tblGrid>
              <a:tr h="266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u="sng"/>
                        <a:t>Situation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1600" u="sng"/>
                        <a:t>Use VIO?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u="sng" dirty="0"/>
                        <a:t>Reason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081936"/>
                  </a:ext>
                </a:extLst>
              </a:tr>
              <a:tr h="465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Indoor navigation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1600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GPS is unavailable indoors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787134"/>
                  </a:ext>
                </a:extLst>
              </a:tr>
              <a:tr h="465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Tunnels, mines, caves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16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No satellite signal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213338"/>
                  </a:ext>
                </a:extLst>
              </a:tr>
              <a:tr h="465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Urban canyons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16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GPS multipath and blockage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178116"/>
                  </a:ext>
                </a:extLst>
              </a:tr>
              <a:tr h="465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Forests / dense vegetation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16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GPS may be weak or noisy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268563"/>
                  </a:ext>
                </a:extLst>
              </a:tr>
              <a:tr h="665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Search-and-rescue environments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16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dirty="0"/>
                        <a:t>Works </a:t>
                      </a:r>
                      <a:r>
                        <a:rPr lang="es-MX" sz="1600" dirty="0" err="1"/>
                        <a:t>without</a:t>
                      </a:r>
                      <a:r>
                        <a:rPr lang="es-MX" sz="1600" dirty="0"/>
                        <a:t> </a:t>
                      </a:r>
                      <a:r>
                        <a:rPr lang="es-MX" sz="1600" dirty="0" err="1"/>
                        <a:t>external</a:t>
                      </a:r>
                      <a:r>
                        <a:rPr lang="es-MX" sz="1600" dirty="0"/>
                        <a:t> </a:t>
                      </a:r>
                      <a:r>
                        <a:rPr lang="es-MX" sz="1600" dirty="0" err="1"/>
                        <a:t>infrastructure</a:t>
                      </a:r>
                      <a:endParaRPr lang="es-MX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652862"/>
                  </a:ext>
                </a:extLst>
              </a:tr>
              <a:tr h="465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Drone obstacle avoidance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16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Provides local motion and attitude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335591"/>
                  </a:ext>
                </a:extLst>
              </a:tr>
              <a:tr h="4659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/>
                        <a:t>Short-to-medium 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sz="16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600" dirty="0" err="1"/>
                        <a:t>Drift</a:t>
                      </a:r>
                      <a:r>
                        <a:rPr lang="es-MX" sz="1600" dirty="0"/>
                        <a:t> </a:t>
                      </a:r>
                      <a:r>
                        <a:rPr lang="es-MX" sz="1600" dirty="0" err="1"/>
                        <a:t>is</a:t>
                      </a:r>
                      <a:r>
                        <a:rPr lang="es-MX" sz="1600" dirty="0"/>
                        <a:t> </a:t>
                      </a:r>
                      <a:r>
                        <a:rPr lang="es-MX" sz="1600" dirty="0" err="1"/>
                        <a:t>manageable</a:t>
                      </a:r>
                      <a:endParaRPr lang="es-MX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443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5106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B67D15B-8618-7C4D-A57B-2972EE994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0" y="2030856"/>
            <a:ext cx="5309419" cy="304258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307E0F0-CD72-F634-CF2E-4C5975FAE073}"/>
              </a:ext>
            </a:extLst>
          </p:cNvPr>
          <p:cNvSpPr txBox="1"/>
          <p:nvPr/>
        </p:nvSpPr>
        <p:spPr>
          <a:xfrm>
            <a:off x="688257" y="395438"/>
            <a:ext cx="107171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Geo-location when you need global or map-based position </a:t>
            </a:r>
            <a:r>
              <a:rPr lang="en-US" sz="3000" b="1" dirty="0"/>
              <a:t>when GPS is unavailable</a:t>
            </a:r>
            <a:endParaRPr lang="es-MX" sz="30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ED728605-2FE9-57ED-DEA7-6AB9BDFDC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593213"/>
              </p:ext>
            </p:extLst>
          </p:nvPr>
        </p:nvGraphicFramePr>
        <p:xfrm>
          <a:off x="5488858" y="1534499"/>
          <a:ext cx="6575322" cy="4846320"/>
        </p:xfrm>
        <a:graphic>
          <a:graphicData uri="http://schemas.openxmlformats.org/drawingml/2006/table">
            <a:tbl>
              <a:tblPr/>
              <a:tblGrid>
                <a:gridCol w="2191774">
                  <a:extLst>
                    <a:ext uri="{9D8B030D-6E8A-4147-A177-3AD203B41FA5}">
                      <a16:colId xmlns:a16="http://schemas.microsoft.com/office/drawing/2014/main" val="2575216039"/>
                    </a:ext>
                  </a:extLst>
                </a:gridCol>
                <a:gridCol w="2191774">
                  <a:extLst>
                    <a:ext uri="{9D8B030D-6E8A-4147-A177-3AD203B41FA5}">
                      <a16:colId xmlns:a16="http://schemas.microsoft.com/office/drawing/2014/main" val="2138175118"/>
                    </a:ext>
                  </a:extLst>
                </a:gridCol>
                <a:gridCol w="2191774">
                  <a:extLst>
                    <a:ext uri="{9D8B030D-6E8A-4147-A177-3AD203B41FA5}">
                      <a16:colId xmlns:a16="http://schemas.microsoft.com/office/drawing/2014/main" val="4069019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 u="sng"/>
                        <a:t>Situation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b="1" u="sng"/>
                        <a:t>Use Geo-location?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 u="sng" dirty="0"/>
                        <a:t>Reason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054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Returning to a known base station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Needs global reference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219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Mapping a disaster zone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Needs position on a map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28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Indoor warehouse navigation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use known map or markers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20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Multi-drone coordination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Drones need shared coordinates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455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Long 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Corrects VIO drift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74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Repeated inspection route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localize against previous map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28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Search-and-rescue target reporting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s-MX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Need victim/object location in map frame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751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04164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161</Words>
  <Application>Microsoft Office PowerPoint</Application>
  <PresentationFormat>Panorámica</PresentationFormat>
  <Paragraphs>51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OSORIO</dc:creator>
  <cp:lastModifiedBy>CARLOS OSORIO</cp:lastModifiedBy>
  <cp:revision>1</cp:revision>
  <dcterms:created xsi:type="dcterms:W3CDTF">2026-05-12T09:51:51Z</dcterms:created>
  <dcterms:modified xsi:type="dcterms:W3CDTF">2026-05-12T12:09:36Z</dcterms:modified>
</cp:coreProperties>
</file>